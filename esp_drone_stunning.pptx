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80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9987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1097280"/>
            <a:ext cx="5029200" cy="5029200"/>
          </a:xfrm>
          <a:prstGeom prst="ellipse">
            <a:avLst/>
          </a:prstGeom>
          <a:solidFill>
            <a:srgbClr val="818CF8">
              <a:alpha val="12000"/>
            </a:srgbClr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097280" y="2286000"/>
            <a:ext cx="3657600" cy="3657600"/>
          </a:xfrm>
          <a:prstGeom prst="ellipse">
            <a:avLst/>
          </a:prstGeom>
          <a:solidFill>
            <a:srgbClr val="38BDF8">
              <a:alpha val="9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65760" y="18288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87552" y="18288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609344" y="18288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231136" y="18288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852928" y="18288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474720" y="18288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096512" y="18288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718304" y="18288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5340096" y="18288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5961888" y="18288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583680" y="18288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205472" y="18288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7827264" y="18288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8449056" y="18288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65760" y="96012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987552" y="96012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1609344" y="96012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231136" y="96012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2852928" y="96012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3474720" y="96012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096512" y="96012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718304" y="96012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5340096" y="96012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5961888" y="96012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6583680" y="96012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7205472" y="96012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7827264" y="96012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8449056" y="96012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365760" y="173736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987552" y="173736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1609344" y="173736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2231136" y="173736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2852928" y="173736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3474720" y="173736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4096512" y="173736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4718304" y="173736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5340096" y="173736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5961888" y="173736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6583680" y="173736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7205472" y="173736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7827264" y="173736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8449056" y="173736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365760" y="251460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987552" y="251460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1609344" y="251460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2231136" y="251460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2852928" y="251460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3474720" y="251460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4096512" y="251460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4718304" y="251460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Shape 52"/>
          <p:cNvSpPr/>
          <p:nvPr/>
        </p:nvSpPr>
        <p:spPr>
          <a:xfrm>
            <a:off x="5340096" y="251460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Shape 53"/>
          <p:cNvSpPr/>
          <p:nvPr/>
        </p:nvSpPr>
        <p:spPr>
          <a:xfrm>
            <a:off x="5961888" y="251460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6583680" y="251460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7205472" y="251460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7827264" y="251460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Shape 57"/>
          <p:cNvSpPr/>
          <p:nvPr/>
        </p:nvSpPr>
        <p:spPr>
          <a:xfrm>
            <a:off x="8449056" y="251460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8"/>
          <p:cNvSpPr/>
          <p:nvPr/>
        </p:nvSpPr>
        <p:spPr>
          <a:xfrm>
            <a:off x="365760" y="329184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Shape 59"/>
          <p:cNvSpPr/>
          <p:nvPr/>
        </p:nvSpPr>
        <p:spPr>
          <a:xfrm>
            <a:off x="987552" y="329184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Shape 60"/>
          <p:cNvSpPr/>
          <p:nvPr/>
        </p:nvSpPr>
        <p:spPr>
          <a:xfrm>
            <a:off x="1609344" y="329184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Shape 61"/>
          <p:cNvSpPr/>
          <p:nvPr/>
        </p:nvSpPr>
        <p:spPr>
          <a:xfrm>
            <a:off x="2231136" y="329184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Shape 62"/>
          <p:cNvSpPr/>
          <p:nvPr/>
        </p:nvSpPr>
        <p:spPr>
          <a:xfrm>
            <a:off x="2852928" y="329184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Shape 63"/>
          <p:cNvSpPr/>
          <p:nvPr/>
        </p:nvSpPr>
        <p:spPr>
          <a:xfrm>
            <a:off x="3474720" y="329184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Shape 64"/>
          <p:cNvSpPr/>
          <p:nvPr/>
        </p:nvSpPr>
        <p:spPr>
          <a:xfrm>
            <a:off x="4096512" y="329184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Shape 65"/>
          <p:cNvSpPr/>
          <p:nvPr/>
        </p:nvSpPr>
        <p:spPr>
          <a:xfrm>
            <a:off x="4718304" y="329184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Shape 66"/>
          <p:cNvSpPr/>
          <p:nvPr/>
        </p:nvSpPr>
        <p:spPr>
          <a:xfrm>
            <a:off x="5340096" y="329184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Shape 67"/>
          <p:cNvSpPr/>
          <p:nvPr/>
        </p:nvSpPr>
        <p:spPr>
          <a:xfrm>
            <a:off x="5961888" y="329184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Shape 68"/>
          <p:cNvSpPr/>
          <p:nvPr/>
        </p:nvSpPr>
        <p:spPr>
          <a:xfrm>
            <a:off x="6583680" y="329184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Shape 69"/>
          <p:cNvSpPr/>
          <p:nvPr/>
        </p:nvSpPr>
        <p:spPr>
          <a:xfrm>
            <a:off x="7205472" y="329184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Shape 70"/>
          <p:cNvSpPr/>
          <p:nvPr/>
        </p:nvSpPr>
        <p:spPr>
          <a:xfrm>
            <a:off x="7827264" y="329184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Shape 71"/>
          <p:cNvSpPr/>
          <p:nvPr/>
        </p:nvSpPr>
        <p:spPr>
          <a:xfrm>
            <a:off x="8449056" y="329184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" name="Shape 72"/>
          <p:cNvSpPr/>
          <p:nvPr/>
        </p:nvSpPr>
        <p:spPr>
          <a:xfrm>
            <a:off x="365760" y="406908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" name="Shape 73"/>
          <p:cNvSpPr/>
          <p:nvPr/>
        </p:nvSpPr>
        <p:spPr>
          <a:xfrm>
            <a:off x="987552" y="406908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Shape 74"/>
          <p:cNvSpPr/>
          <p:nvPr/>
        </p:nvSpPr>
        <p:spPr>
          <a:xfrm>
            <a:off x="1609344" y="406908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Shape 75"/>
          <p:cNvSpPr/>
          <p:nvPr/>
        </p:nvSpPr>
        <p:spPr>
          <a:xfrm>
            <a:off x="2231136" y="406908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Shape 76"/>
          <p:cNvSpPr/>
          <p:nvPr/>
        </p:nvSpPr>
        <p:spPr>
          <a:xfrm>
            <a:off x="2852928" y="406908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9" name="Shape 77"/>
          <p:cNvSpPr/>
          <p:nvPr/>
        </p:nvSpPr>
        <p:spPr>
          <a:xfrm>
            <a:off x="3474720" y="406908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Shape 78"/>
          <p:cNvSpPr/>
          <p:nvPr/>
        </p:nvSpPr>
        <p:spPr>
          <a:xfrm>
            <a:off x="4096512" y="406908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1" name="Shape 79"/>
          <p:cNvSpPr/>
          <p:nvPr/>
        </p:nvSpPr>
        <p:spPr>
          <a:xfrm>
            <a:off x="4718304" y="406908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2" name="Shape 80"/>
          <p:cNvSpPr/>
          <p:nvPr/>
        </p:nvSpPr>
        <p:spPr>
          <a:xfrm>
            <a:off x="5340096" y="406908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3" name="Shape 81"/>
          <p:cNvSpPr/>
          <p:nvPr/>
        </p:nvSpPr>
        <p:spPr>
          <a:xfrm>
            <a:off x="5961888" y="406908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" name="Shape 82"/>
          <p:cNvSpPr/>
          <p:nvPr/>
        </p:nvSpPr>
        <p:spPr>
          <a:xfrm>
            <a:off x="6583680" y="406908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Shape 83"/>
          <p:cNvSpPr/>
          <p:nvPr/>
        </p:nvSpPr>
        <p:spPr>
          <a:xfrm>
            <a:off x="7205472" y="406908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Shape 84"/>
          <p:cNvSpPr/>
          <p:nvPr/>
        </p:nvSpPr>
        <p:spPr>
          <a:xfrm>
            <a:off x="7827264" y="406908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7" name="Shape 85"/>
          <p:cNvSpPr/>
          <p:nvPr/>
        </p:nvSpPr>
        <p:spPr>
          <a:xfrm>
            <a:off x="8449056" y="4069080"/>
            <a:ext cx="45720" cy="457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Shape 86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9" name="Shape 87"/>
          <p:cNvSpPr/>
          <p:nvPr/>
        </p:nvSpPr>
        <p:spPr>
          <a:xfrm>
            <a:off x="502920" y="1005840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38BDF8">
              <a:alpha val="20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Text 88"/>
          <p:cNvSpPr/>
          <p:nvPr/>
        </p:nvSpPr>
        <p:spPr>
          <a:xfrm>
            <a:off x="502920" y="10058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ESP32 · WiFi · RSSI · UAV</a:t>
            </a:r>
            <a:endParaRPr lang="en-US" sz="1000" dirty="0"/>
          </a:p>
        </p:txBody>
      </p:sp>
      <p:sp>
        <p:nvSpPr>
          <p:cNvPr id="91" name="Text 89"/>
          <p:cNvSpPr/>
          <p:nvPr/>
        </p:nvSpPr>
        <p:spPr>
          <a:xfrm>
            <a:off x="457200" y="1463040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Drone-Based</a:t>
            </a:r>
            <a:endParaRPr lang="en-US" sz="44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Crowd Monitoring</a:t>
            </a:r>
            <a:endParaRPr lang="en-US" sz="4400" dirty="0"/>
          </a:p>
        </p:txBody>
      </p:sp>
      <p:sp>
        <p:nvSpPr>
          <p:cNvPr id="92" name="Text 90"/>
          <p:cNvSpPr/>
          <p:nvPr/>
        </p:nvSpPr>
        <p:spPr>
          <a:xfrm>
            <a:off x="457200" y="333756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ESP32 WiFi Sniffing for Localization &amp; Density Estimation</a:t>
            </a:r>
            <a:endParaRPr lang="en-US" sz="1500" dirty="0"/>
          </a:p>
        </p:txBody>
      </p:sp>
      <p:sp>
        <p:nvSpPr>
          <p:cNvPr id="93" name="Shape 9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F172A"/>
          </a:solidFill>
          <a:ln w="12700">
            <a:solidFill>
              <a:srgbClr val="2D3F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4" name="Text 92"/>
          <p:cNvSpPr/>
          <p:nvPr/>
        </p:nvSpPr>
        <p:spPr>
          <a:xfrm>
            <a:off x="457200" y="4919472"/>
            <a:ext cx="82296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RF-Based Indoor Positioning System</a:t>
            </a:r>
            <a:endParaRPr lang="en-US" sz="1000" dirty="0"/>
          </a:p>
        </p:txBody>
      </p:sp>
      <p:sp>
        <p:nvSpPr>
          <p:cNvPr id="95" name="Text 90">
            <a:extLst>
              <a:ext uri="{FF2B5EF4-FFF2-40B4-BE49-F238E27FC236}">
                <a16:creationId xmlns:a16="http://schemas.microsoft.com/office/drawing/2014/main" id="{612A0B19-F6BF-AF71-2987-724FD5C6BA21}"/>
              </a:ext>
            </a:extLst>
          </p:cNvPr>
          <p:cNvSpPr/>
          <p:nvPr/>
        </p:nvSpPr>
        <p:spPr>
          <a:xfrm>
            <a:off x="6833616" y="4196895"/>
            <a:ext cx="19690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chemeClr val="bg1"/>
                </a:solidFill>
              </a:rPr>
              <a:t>Mohit Patil 23BRS1185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137160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296912" y="137160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644384" y="137160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991856" y="137160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339328" y="137160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686800" y="137160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949440" y="484632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296912" y="484632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7644384" y="484632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991856" y="484632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8339328" y="484632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8686800" y="484632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949440" y="832104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296912" y="832104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7644384" y="832104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7991856" y="832104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8339328" y="832104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8686800" y="832104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949440" y="1179576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7296912" y="1179576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7644384" y="1179576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7991856" y="1179576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8339328" y="1179576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8686800" y="1179576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Objective</a:t>
            </a:r>
            <a:endParaRPr lang="en-US" sz="2600" dirty="0"/>
          </a:p>
        </p:txBody>
      </p:sp>
      <p:sp>
        <p:nvSpPr>
          <p:cNvPr id="27" name="Shape 25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1524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365760" y="914400"/>
            <a:ext cx="8412480" cy="109728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7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365760" y="914400"/>
            <a:ext cx="45720" cy="10972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48640" y="1143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📡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1325880" y="1005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Passive Detection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325880" y="1389888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nearby WiFi-enabled devices using promiscuous packet sniffing — no active connection needed.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65760" y="2212848"/>
            <a:ext cx="8412480" cy="109728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7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365760" y="2212848"/>
            <a:ext cx="45720" cy="109728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548640" y="24414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📍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1325880" y="23042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RSSI Localization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325880" y="2688336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device positions using Received Signal Strength Indicator (RSSI) from multiple ESP32 nodes.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65760" y="3511296"/>
            <a:ext cx="8412480" cy="109728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7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365760" y="3511296"/>
            <a:ext cx="45720" cy="10972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548640" y="373989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🗺️</a:t>
            </a:r>
            <a:endParaRPr lang="en-US" sz="2800" dirty="0"/>
          </a:p>
        </p:txBody>
      </p:sp>
      <p:sp>
        <p:nvSpPr>
          <p:cNvPr id="41" name="Text 39"/>
          <p:cNvSpPr/>
          <p:nvPr/>
        </p:nvSpPr>
        <p:spPr>
          <a:xfrm>
            <a:off x="1325880" y="360273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Density Map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325880" y="3986784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crowd concentration on a live GUI, enabling actionable situational awareness.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137160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296912" y="137160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644384" y="137160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991856" y="137160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339328" y="137160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686800" y="137160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949440" y="484632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296912" y="484632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7644384" y="484632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991856" y="484632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8339328" y="484632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8686800" y="484632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949440" y="832104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296912" y="832104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7644384" y="832104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7991856" y="832104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8339328" y="832104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8686800" y="832104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949440" y="1179576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7296912" y="1179576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7644384" y="1179576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7991856" y="1179576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8339328" y="1179576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8686800" y="1179576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27" name="Shape 25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1524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457200" y="1463040"/>
            <a:ext cx="1325880" cy="1325880"/>
          </a:xfrm>
          <a:prstGeom prst="ellipse">
            <a:avLst/>
          </a:prstGeom>
          <a:solidFill>
            <a:srgbClr val="38BDF8">
              <a:alpha val="22000"/>
            </a:srgbClr>
          </a:solidFill>
          <a:ln w="254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57200" y="1691640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WiFi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Devices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783080" y="2125980"/>
            <a:ext cx="3657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1920240" y="1984248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▶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148840" y="1463040"/>
            <a:ext cx="1325880" cy="1325880"/>
          </a:xfrm>
          <a:prstGeom prst="ellipse">
            <a:avLst/>
          </a:prstGeom>
          <a:solidFill>
            <a:srgbClr val="818CF8">
              <a:alpha val="22000"/>
            </a:srgbClr>
          </a:solidFill>
          <a:ln w="254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2148840" y="1691640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ESP32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Nodes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474720" y="2125980"/>
            <a:ext cx="3657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3611880" y="1984248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▶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840480" y="1463040"/>
            <a:ext cx="1325880" cy="1325880"/>
          </a:xfrm>
          <a:prstGeom prst="ellipse">
            <a:avLst/>
          </a:prstGeom>
          <a:solidFill>
            <a:srgbClr val="FB923C">
              <a:alpha val="22000"/>
            </a:srgbClr>
          </a:solidFill>
          <a:ln w="254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3840480" y="1691640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B92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B92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Server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166360" y="2125980"/>
            <a:ext cx="3657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5303520" y="1984248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▶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532120" y="1463040"/>
            <a:ext cx="1325880" cy="1325880"/>
          </a:xfrm>
          <a:prstGeom prst="ellipse">
            <a:avLst/>
          </a:prstGeom>
          <a:solidFill>
            <a:srgbClr val="34D399">
              <a:alpha val="22000"/>
            </a:srgbClr>
          </a:solidFill>
          <a:ln w="254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5532120" y="1691640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Trilater-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ation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858000" y="2125980"/>
            <a:ext cx="3657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6995160" y="1984248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▶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223760" y="1463040"/>
            <a:ext cx="1325880" cy="1325880"/>
          </a:xfrm>
          <a:prstGeom prst="ellipse">
            <a:avLst/>
          </a:prstGeom>
          <a:solidFill>
            <a:srgbClr val="FBBF24">
              <a:alpha val="22000"/>
            </a:srgbClr>
          </a:solidFill>
          <a:ln w="254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7223760" y="1691640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Display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57200" y="3063240"/>
            <a:ext cx="1325880" cy="146304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7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457200" y="3063240"/>
            <a:ext cx="45720" cy="14630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566928" y="3154680"/>
            <a:ext cx="115214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Phones, laptops emit probe requests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148840" y="3063240"/>
            <a:ext cx="1325880" cy="146304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7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2148840" y="3063240"/>
            <a:ext cx="45720" cy="146304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2258568" y="3154680"/>
            <a:ext cx="115214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packets in promiscuous mode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840480" y="3063240"/>
            <a:ext cx="1325880" cy="146304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7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3840480" y="3063240"/>
            <a:ext cx="45720" cy="146304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3950208" y="3154680"/>
            <a:ext cx="115214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RSSI from all nodes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532120" y="3063240"/>
            <a:ext cx="1325880" cy="146304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7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5532120" y="3063240"/>
            <a:ext cx="45720" cy="14630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5641848" y="3154680"/>
            <a:ext cx="115214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(x,y) coordinates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7223760" y="3063240"/>
            <a:ext cx="1325880" cy="146304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7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9" name="Shape 57"/>
          <p:cNvSpPr/>
          <p:nvPr/>
        </p:nvSpPr>
        <p:spPr>
          <a:xfrm>
            <a:off x="7223760" y="3063240"/>
            <a:ext cx="45720" cy="14630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7333488" y="3154680"/>
            <a:ext cx="115214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density heatmap live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137160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296912" y="137160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644384" y="137160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991856" y="137160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339328" y="137160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686800" y="137160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949440" y="484632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296912" y="484632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7644384" y="484632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991856" y="484632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8339328" y="484632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8686800" y="484632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949440" y="832104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296912" y="832104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7644384" y="832104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7991856" y="832104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8339328" y="832104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8686800" y="832104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949440" y="1179576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7296912" y="1179576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7644384" y="1179576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7991856" y="1179576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8339328" y="1179576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8686800" y="1179576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ESP32 WiFi Sniffing</a:t>
            </a:r>
            <a:endParaRPr lang="en-US" sz="2600" dirty="0"/>
          </a:p>
        </p:txBody>
      </p:sp>
      <p:sp>
        <p:nvSpPr>
          <p:cNvPr id="27" name="Shape 25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1524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365760" y="868680"/>
            <a:ext cx="4023360" cy="402336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7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365760" y="868680"/>
            <a:ext cx="45720" cy="40233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48640" y="960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48640" y="141732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set to promiscuous mode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Intercepts 802.11 management frames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source MAC address per packet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RSSI (signal strength in dBm)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data via TCP/UDP to server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user association or authentication needed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663440" y="868680"/>
            <a:ext cx="4114800" cy="402336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7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4663440" y="868680"/>
            <a:ext cx="45720" cy="402336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846320" y="9601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Packet Callback (Pseudocode)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4754880" y="1389888"/>
            <a:ext cx="38404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sniffer_cb(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wifi_promiscuous_pkt_t *pkt) {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int8_t rssi =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pkt-&gt;rx_ctrl.rssi;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uint8_t *mac =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pkt-&gt;payload[10];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send_to_server(mac, rssi);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137160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296912" y="137160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644384" y="137160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991856" y="137160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339328" y="137160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686800" y="137160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949440" y="484632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296912" y="484632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7644384" y="484632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991856" y="484632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8339328" y="484632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8686800" y="484632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949440" y="832104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296912" y="832104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7644384" y="832104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7991856" y="832104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8339328" y="832104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8686800" y="832104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949440" y="1179576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7296912" y="1179576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7644384" y="1179576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7991856" y="1179576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8339328" y="1179576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8686800" y="1179576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RSSI → Distance: The Math</a:t>
            </a:r>
            <a:endParaRPr lang="en-US" sz="2600" dirty="0"/>
          </a:p>
        </p:txBody>
      </p:sp>
      <p:sp>
        <p:nvSpPr>
          <p:cNvPr id="27" name="Shape 25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1524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365760" y="841248"/>
            <a:ext cx="8412480" cy="141732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7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365760" y="841248"/>
            <a:ext cx="45720" cy="1417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48640" y="91440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Log-Distance Path Loss Model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8640" y="129844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RSSI(d) = RSSI₀ − 10 · n · log₁₀(d / d₀)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365760" y="2395728"/>
            <a:ext cx="8412480" cy="100584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7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365760" y="2395728"/>
            <a:ext cx="45720" cy="100584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548640" y="24688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Solving for Distance  d: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8640" y="281635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= d₀ · 10^((RSSI₀ − RSSI) / (10 · n))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365760" y="3566160"/>
            <a:ext cx="4114800" cy="54864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7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365760" y="3566160"/>
            <a:ext cx="45720" cy="5486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502920" y="36576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RSSI₀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554480" y="36576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RSSI at d₀=1m  (typically −40 to −55 dBm)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663440" y="3566160"/>
            <a:ext cx="4114800" cy="54864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7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4663440" y="3566160"/>
            <a:ext cx="45720" cy="54864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4800600" y="36576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852160" y="36576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loss exponent  (free space ≈ 2, indoor ≈ 2.7–3.5)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65760" y="4224528"/>
            <a:ext cx="4114800" cy="54864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7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365760" y="4224528"/>
            <a:ext cx="45720" cy="5486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502920" y="431596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1554480" y="431596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distance from ESP32 node to device (metres)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663440" y="4224528"/>
            <a:ext cx="4114800" cy="54864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7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4663440" y="4224528"/>
            <a:ext cx="45720" cy="54864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4800600" y="431596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RSSI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5852160" y="431596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signal strength from captured packet (dBm)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137160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296912" y="137160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644384" y="137160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991856" y="137160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339328" y="137160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686800" y="137160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949440" y="484632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296912" y="484632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7644384" y="484632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991856" y="484632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8339328" y="484632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8686800" y="484632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949440" y="832104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296912" y="832104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7644384" y="832104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7991856" y="832104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8339328" y="832104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8686800" y="832104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949440" y="1179576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7296912" y="1179576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7644384" y="1179576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7991856" y="1179576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8339328" y="1179576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8686800" y="1179576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Trilateration: Position Calculation</a:t>
            </a:r>
            <a:endParaRPr lang="en-US" sz="2600" dirty="0"/>
          </a:p>
        </p:txBody>
      </p:sp>
      <p:sp>
        <p:nvSpPr>
          <p:cNvPr id="27" name="Shape 25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1524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365760" y="868680"/>
            <a:ext cx="4572000" cy="406908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7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365760" y="868680"/>
            <a:ext cx="45720" cy="406908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48640" y="9601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Circle Equations from 3 Nodes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02920" y="144475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1: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2920" y="176479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(x−x₁)² + (y−y₁)² = r₁²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02920" y="222199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2: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" y="25420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(x−x₂)² + (y−y₂)² = r₂²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02920" y="299923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3: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2920" y="33192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(x−x₃)² + (y−y₃)² = r₃²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02920" y="385876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Linearised (subtract eq₃ from eq₁, eq₂):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02920" y="42062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 = b  →  x = (AᵀA)⁻¹Aᵀb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5120640" y="868680"/>
            <a:ext cx="3657600" cy="406908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7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5120640" y="868680"/>
            <a:ext cx="45720" cy="40690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5303520" y="960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Geometric Intersection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5532120" y="2084832"/>
            <a:ext cx="1828800" cy="1828800"/>
          </a:xfrm>
          <a:prstGeom prst="ellipse">
            <a:avLst/>
          </a:prstGeom>
          <a:solidFill>
            <a:srgbClr val="38BDF8">
              <a:alpha val="15000"/>
            </a:srgbClr>
          </a:solidFill>
          <a:ln w="190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6903720" y="2084832"/>
            <a:ext cx="1828800" cy="1828800"/>
          </a:xfrm>
          <a:prstGeom prst="ellipse">
            <a:avLst/>
          </a:prstGeom>
          <a:solidFill>
            <a:srgbClr val="FB923C">
              <a:alpha val="15000"/>
            </a:srgbClr>
          </a:solidFill>
          <a:ln w="1905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6217920" y="3200400"/>
            <a:ext cx="1828800" cy="1828800"/>
          </a:xfrm>
          <a:prstGeom prst="ellipse">
            <a:avLst/>
          </a:prstGeom>
          <a:solidFill>
            <a:srgbClr val="34D399">
              <a:alpha val="15000"/>
            </a:srgbClr>
          </a:solidFill>
          <a:ln w="1905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5623560" y="22402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N₁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321040" y="22402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N₂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903720" y="43434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N₃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858000" y="3035808"/>
            <a:ext cx="182880" cy="18288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7086600" y="2971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(x,y)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137160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296912" y="137160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644384" y="137160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991856" y="137160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339328" y="137160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686800" y="137160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949440" y="484632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296912" y="484632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7644384" y="484632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991856" y="484632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8339328" y="484632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8686800" y="484632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949440" y="832104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296912" y="832104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7644384" y="832104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7991856" y="832104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8339328" y="832104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8686800" y="832104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949440" y="1179576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7296912" y="1179576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7644384" y="1179576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7991856" y="1179576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8339328" y="1179576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8686800" y="1179576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Least-Squares Position Solver</a:t>
            </a:r>
            <a:endParaRPr lang="en-US" sz="2600" dirty="0"/>
          </a:p>
        </p:txBody>
      </p:sp>
      <p:sp>
        <p:nvSpPr>
          <p:cNvPr id="27" name="Shape 25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1524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365760" y="841248"/>
            <a:ext cx="8412480" cy="118872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7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365760" y="841248"/>
            <a:ext cx="45720" cy="1188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48640" y="91440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Form  —  Subtracting the last equation eliminates nonlinear terms: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" y="12344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2(xᵢ−xₙ)·x + 2(yᵢ−yₙ)·y = rₙ²−rᵢ² + xᵢ²−xₙ² + yᵢ²−yₙ²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365760" y="2194560"/>
            <a:ext cx="2560320" cy="201168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7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365760" y="2194560"/>
            <a:ext cx="45720" cy="201168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502920" y="228600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 =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02920" y="2697480"/>
            <a:ext cx="2606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⎡ 2(x₁−x₃)  2(y₁−y₃) ⎤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⎣ 2(x₂−x₃)  2(y₂−y₃) ⎦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108960" y="2194560"/>
            <a:ext cx="2743200" cy="201168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7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3108960" y="2194560"/>
            <a:ext cx="45720" cy="201168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3246120" y="228600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 =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3246120" y="269748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⎡ r₃²−r₁² + x₁²−x₃² + y₁²−y₃² ⎤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⎣ r₃²−r₂² + x₂²−x₃² + y₂²−y₃² ⎦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035040" y="2194560"/>
            <a:ext cx="2743200" cy="201168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7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6035040" y="2194560"/>
            <a:ext cx="45720" cy="20116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6172200" y="22860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Solution: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172200" y="269748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x̂ = (AᵀA)⁻¹Aᵀb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[x,  y]ᵀ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365760" y="4370832"/>
            <a:ext cx="8412480" cy="566928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7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365760" y="4370832"/>
            <a:ext cx="45720" cy="56692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548640" y="443484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RSSI noise adds uncertainty to rᵢ → Weighted Least Squares (WLS) assigns higher weight to stronger (closer) signals for better accuracy.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137160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296912" y="137160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644384" y="137160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991856" y="137160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339328" y="137160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686800" y="137160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949440" y="484632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296912" y="484632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7644384" y="484632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991856" y="484632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8339328" y="484632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8686800" y="484632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949440" y="832104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296912" y="832104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7644384" y="832104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7991856" y="832104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8339328" y="832104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8686800" y="832104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949440" y="1179576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7296912" y="1179576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7644384" y="1179576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7991856" y="1179576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8339328" y="1179576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8686800" y="1179576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 Processing Pipeline</a:t>
            </a:r>
            <a:endParaRPr lang="en-US" sz="2600" dirty="0"/>
          </a:p>
        </p:txBody>
      </p:sp>
      <p:sp>
        <p:nvSpPr>
          <p:cNvPr id="27" name="Shape 25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1524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365760" y="841248"/>
            <a:ext cx="4160520" cy="192024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7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365760" y="841248"/>
            <a:ext cx="45720" cy="19202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75488" y="978408"/>
            <a:ext cx="594360" cy="594360"/>
          </a:xfrm>
          <a:prstGeom prst="ellipse">
            <a:avLst/>
          </a:prstGeom>
          <a:solidFill>
            <a:srgbClr val="38BDF8">
              <a:alpha val="40000"/>
            </a:srgbClr>
          </a:solidFill>
          <a:ln w="190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75488" y="97840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188720" y="10058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Packet Ingestion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75488" y="1645920"/>
            <a:ext cx="39136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nodes stream (MAC, RSSI, node_id, timestamp) tuples over UDP to the backend server.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709160" y="841248"/>
            <a:ext cx="4160520" cy="192024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7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4709160" y="841248"/>
            <a:ext cx="45720" cy="192024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4818888" y="978408"/>
            <a:ext cx="594360" cy="594360"/>
          </a:xfrm>
          <a:prstGeom prst="ellipse">
            <a:avLst/>
          </a:prstGeom>
          <a:solidFill>
            <a:srgbClr val="818CF8">
              <a:alpha val="40000"/>
            </a:srgbClr>
          </a:solidFill>
          <a:ln w="1905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818888" y="97840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532120" y="10058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MAC Grouping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4818888" y="1645920"/>
            <a:ext cx="39136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groups packets by MAC address. Waits for readings from ≥3 nodes within a 500 ms window.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365760" y="2926080"/>
            <a:ext cx="4160520" cy="192024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7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365760" y="2926080"/>
            <a:ext cx="45720" cy="192024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475488" y="3063240"/>
            <a:ext cx="594360" cy="594360"/>
          </a:xfrm>
          <a:prstGeom prst="ellipse">
            <a:avLst/>
          </a:prstGeom>
          <a:solidFill>
            <a:srgbClr val="FB923C">
              <a:alpha val="40000"/>
            </a:srgbClr>
          </a:solidFill>
          <a:ln w="1905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475488" y="3063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1188720" y="309067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Distance Estimation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475488" y="3730752"/>
            <a:ext cx="39136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RSSI→distance formula per node. Convert raw dBm to metres using calibrated RSSI₀ and n.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4709160" y="2926080"/>
            <a:ext cx="4160520" cy="192024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7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4709160" y="2926080"/>
            <a:ext cx="45720" cy="19202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4818888" y="3063240"/>
            <a:ext cx="594360" cy="594360"/>
          </a:xfrm>
          <a:prstGeom prst="ellipse">
            <a:avLst/>
          </a:prstGeom>
          <a:solidFill>
            <a:srgbClr val="34D399">
              <a:alpha val="40000"/>
            </a:srgbClr>
          </a:solidFill>
          <a:ln w="1905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4818888" y="3063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5532120" y="309067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Trilateration Solve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4818888" y="3730752"/>
            <a:ext cx="39136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 A and b matrices. Solve x̂=(AᵀA)⁻¹Aᵀb. Output (x,y) position in the floor-plan coordinate frame.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137160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296912" y="137160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644384" y="137160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991856" y="137160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339328" y="137160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686800" y="137160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949440" y="484632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296912" y="484632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7644384" y="484632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991856" y="484632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8339328" y="484632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8686800" y="484632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949440" y="832104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296912" y="832104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7644384" y="832104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7991856" y="832104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8339328" y="832104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8686800" y="832104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949440" y="1179576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7296912" y="1179576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7644384" y="1179576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7991856" y="1179576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8339328" y="1179576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8686800" y="1179576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GUI Visualization</a:t>
            </a:r>
            <a:endParaRPr lang="en-US" sz="2600" dirty="0"/>
          </a:p>
        </p:txBody>
      </p:sp>
      <p:sp>
        <p:nvSpPr>
          <p:cNvPr id="27" name="Shape 25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1524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365760" y="868680"/>
            <a:ext cx="3931920" cy="402336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7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365760" y="868680"/>
            <a:ext cx="45720" cy="40233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48640" y="9601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Display Features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48640" y="1417320"/>
            <a:ext cx="35204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Red dots = detected devices</a:t>
            </a:r>
            <a:endParaRPr lang="en-US" sz="12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(x, y) coordinate labels</a:t>
            </a:r>
            <a:endParaRPr lang="en-US" sz="12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Live refresh every 500 ms</a:t>
            </a:r>
            <a:endParaRPr lang="en-US" sz="12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🌡️  Heatmap density overlay</a:t>
            </a:r>
            <a:endParaRPr lang="en-US" sz="12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📏  Scalable floor-plan canvas</a:t>
            </a:r>
            <a:endParaRPr lang="en-US" sz="12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WebSocket / REST data feed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480560" y="868680"/>
            <a:ext cx="4297680" cy="402336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7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4480560" y="868680"/>
            <a:ext cx="45720" cy="40233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663440" y="960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Floor-Plan View (Mock)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4663440" y="1417320"/>
            <a:ext cx="3931920" cy="3246120"/>
          </a:xfrm>
          <a:prstGeom prst="rect">
            <a:avLst/>
          </a:prstGeom>
          <a:solidFill>
            <a:srgbClr val="0D1B2A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4663440" y="2228850"/>
            <a:ext cx="393192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5646420" y="1417320"/>
            <a:ext cx="0" cy="324612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4663440" y="3040380"/>
            <a:ext cx="393192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6629400" y="1417320"/>
            <a:ext cx="0" cy="324612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4663440" y="3851910"/>
            <a:ext cx="393192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7612380" y="1417320"/>
            <a:ext cx="0" cy="324612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4828032" y="1554480"/>
            <a:ext cx="256032" cy="25603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5102352" y="15544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N1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8211312" y="1554480"/>
            <a:ext cx="256032" cy="256032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8485632" y="15544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N2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492240" y="4389120"/>
            <a:ext cx="256032" cy="25603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6766560" y="43891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N3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760720" y="2286000"/>
            <a:ext cx="164592" cy="164592"/>
          </a:xfrm>
          <a:prstGeom prst="ellipse">
            <a:avLst/>
          </a:prstGeom>
          <a:solidFill>
            <a:srgbClr val="FF4444"/>
          </a:solidFill>
          <a:ln w="6350">
            <a:solidFill>
              <a:srgbClr val="FF66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6126480" y="2606040"/>
            <a:ext cx="164592" cy="164592"/>
          </a:xfrm>
          <a:prstGeom prst="ellipse">
            <a:avLst/>
          </a:prstGeom>
          <a:solidFill>
            <a:srgbClr val="FF4444"/>
          </a:solidFill>
          <a:ln w="6350">
            <a:solidFill>
              <a:srgbClr val="FF66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6583680" y="2148840"/>
            <a:ext cx="164592" cy="164592"/>
          </a:xfrm>
          <a:prstGeom prst="ellipse">
            <a:avLst/>
          </a:prstGeom>
          <a:solidFill>
            <a:srgbClr val="FF4444"/>
          </a:solidFill>
          <a:ln w="6350">
            <a:solidFill>
              <a:srgbClr val="FF66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7132320" y="3200400"/>
            <a:ext cx="164592" cy="164592"/>
          </a:xfrm>
          <a:prstGeom prst="ellipse">
            <a:avLst/>
          </a:prstGeom>
          <a:solidFill>
            <a:srgbClr val="FF4444"/>
          </a:solidFill>
          <a:ln w="6350">
            <a:solidFill>
              <a:srgbClr val="FF66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5577840" y="3474720"/>
            <a:ext cx="164592" cy="164592"/>
          </a:xfrm>
          <a:prstGeom prst="ellipse">
            <a:avLst/>
          </a:prstGeom>
          <a:solidFill>
            <a:srgbClr val="FF4444"/>
          </a:solidFill>
          <a:ln w="6350">
            <a:solidFill>
              <a:srgbClr val="FF66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7498080" y="1920240"/>
            <a:ext cx="164592" cy="164592"/>
          </a:xfrm>
          <a:prstGeom prst="ellipse">
            <a:avLst/>
          </a:prstGeom>
          <a:solidFill>
            <a:srgbClr val="FF4444"/>
          </a:solidFill>
          <a:ln w="6350">
            <a:solidFill>
              <a:srgbClr val="FF66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6035040" y="205740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(3.2, 4.7)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137160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296912" y="137160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644384" y="137160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991856" y="137160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339328" y="137160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686800" y="137160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949440" y="484632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296912" y="484632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7644384" y="484632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991856" y="484632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8339328" y="484632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8686800" y="484632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949440" y="832104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296912" y="832104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7644384" y="832104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7991856" y="832104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8339328" y="832104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8686800" y="832104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949440" y="1179576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7296912" y="1179576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7644384" y="1179576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7991856" y="1179576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8339328" y="1179576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8686800" y="1179576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Applications</a:t>
            </a:r>
            <a:endParaRPr lang="en-US" sz="2600" dirty="0"/>
          </a:p>
        </p:txBody>
      </p:sp>
      <p:sp>
        <p:nvSpPr>
          <p:cNvPr id="27" name="Shape 25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1524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365760" y="841248"/>
            <a:ext cx="4160520" cy="192024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7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365760" y="841248"/>
            <a:ext cx="45720" cy="19202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75488" y="10241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👥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1207008" y="10241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Crowd Monitoring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75488" y="1618488"/>
            <a:ext cx="39136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crowd density at concerts, stadiums, and public events. Enable proactive safety responses.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709160" y="841248"/>
            <a:ext cx="4160520" cy="192024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7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4709160" y="841248"/>
            <a:ext cx="45720" cy="192024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818888" y="10241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🚨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5550408" y="10241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Disaster Management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4818888" y="1618488"/>
            <a:ext cx="39136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survivors in collapsed structures by detecting their devices via passive RF sensing.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65760" y="2944368"/>
            <a:ext cx="4160520" cy="192024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7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365760" y="2944368"/>
            <a:ext cx="45720" cy="192024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475488" y="31272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🏙️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1207008" y="312724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City Analytics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475488" y="3721608"/>
            <a:ext cx="39136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pedestrian flow heatmaps to optimise city infrastructure and traffic management.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709160" y="2944368"/>
            <a:ext cx="4160520" cy="192024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7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4709160" y="2944368"/>
            <a:ext cx="45720" cy="19202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4818888" y="31272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🎪</a:t>
            </a:r>
            <a:endParaRPr lang="en-US" sz="2600" dirty="0"/>
          </a:p>
        </p:txBody>
      </p:sp>
      <p:sp>
        <p:nvSpPr>
          <p:cNvPr id="46" name="Text 44"/>
          <p:cNvSpPr/>
          <p:nvPr/>
        </p:nvSpPr>
        <p:spPr>
          <a:xfrm>
            <a:off x="5550408" y="312724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Event Management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4818888" y="3721608"/>
            <a:ext cx="39136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real-time attendance, queue lengths, and bottleneck areas within event venues.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137160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296912" y="137160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644384" y="137160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991856" y="137160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339328" y="137160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686800" y="137160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949440" y="484632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296912" y="484632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7644384" y="484632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991856" y="484632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8339328" y="484632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8686800" y="484632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949440" y="832104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296912" y="832104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7644384" y="832104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7991856" y="832104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8339328" y="832104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8686800" y="832104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949440" y="1179576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7296912" y="1179576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7644384" y="1179576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7991856" y="1179576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8339328" y="1179576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8686800" y="1179576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Challenges &amp; Mitigations</a:t>
            </a:r>
            <a:endParaRPr lang="en-US" sz="2600" dirty="0"/>
          </a:p>
        </p:txBody>
      </p:sp>
      <p:sp>
        <p:nvSpPr>
          <p:cNvPr id="27" name="Shape 25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1524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365760" y="868680"/>
            <a:ext cx="4114800" cy="123444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7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365760" y="868680"/>
            <a:ext cx="45720" cy="123444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30352" y="96012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92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RSSI Noise &amp; Multipath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30352" y="1344168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Walls, furniture, and reflections cause RSSI to fluctuate by ±10 dBm, inflating distance errors.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63440" y="868680"/>
            <a:ext cx="4114800" cy="123444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7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4663440" y="868680"/>
            <a:ext cx="45720" cy="12344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828032" y="96012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Mitigation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828032" y="1344168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Kalman filter smoothing + Weighted Least Squares (weights ∝ 1/σ²) down-weight noisy readings.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65760" y="2258568"/>
            <a:ext cx="4114800" cy="123444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7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365760" y="2258568"/>
            <a:ext cx="45720" cy="123444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530352" y="235000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MAC Address Randomisation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30352" y="2734056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iOS &amp; Android randomise MAC per probe request, causing identity fragmentation.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663440" y="2258568"/>
            <a:ext cx="4114800" cy="123444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7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4663440" y="2258568"/>
            <a:ext cx="45720" cy="12344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4828032" y="235000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Mitigation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828032" y="2734056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probe bursts within 100 ms windows; use sequence-number continuity as a soft identifier.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65760" y="3648456"/>
            <a:ext cx="4114800" cy="123444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7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365760" y="3648456"/>
            <a:ext cx="45720" cy="12344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530352" y="3739896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ESP32 Hardware Limits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30352" y="4123944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Single-core sniffing + TCP send can miss packets at high packet rates (&gt;500 pps).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663440" y="3648456"/>
            <a:ext cx="4114800" cy="123444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7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4663440" y="3648456"/>
            <a:ext cx="45720" cy="12344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4828032" y="3739896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Mitigation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4828032" y="4123944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FreeRTOS dual-core: Core 0 sniffs, Core 1 processes &amp; sends. Ring-buffer between cores.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137160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296912" y="137160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644384" y="137160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991856" y="137160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339328" y="137160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686800" y="137160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949440" y="484632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296912" y="484632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7644384" y="484632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991856" y="484632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8339328" y="484632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8686800" y="484632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949440" y="832104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296912" y="832104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7644384" y="832104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7991856" y="832104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8339328" y="832104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8686800" y="832104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949440" y="1179576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7296912" y="1179576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7644384" y="1179576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7991856" y="1179576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8339328" y="1179576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8686800" y="1179576"/>
            <a:ext cx="54864" cy="54864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Advantages</a:t>
            </a:r>
            <a:endParaRPr lang="en-US" sz="2600" dirty="0"/>
          </a:p>
        </p:txBody>
      </p:sp>
      <p:sp>
        <p:nvSpPr>
          <p:cNvPr id="27" name="Shape 25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1524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365760" y="868680"/>
            <a:ext cx="2697480" cy="192024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7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365760" y="868680"/>
            <a:ext cx="45720" cy="19202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57200" y="978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115568" y="100584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Low-Cost Hardware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75488" y="1554480"/>
            <a:ext cx="246888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module: ~₹300–500 each. Entire 3-node setup under ₹2,000 — orders of magnitude cheaper than camera systems.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246120" y="868680"/>
            <a:ext cx="2697480" cy="192024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7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3246120" y="868680"/>
            <a:ext cx="45720" cy="192024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3337560" y="978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3995928" y="100584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Privacy-Preserving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355848" y="1554480"/>
            <a:ext cx="246888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video capture. Only anonymised MAC hashes and RSSI values are processed — GDPR/PDPA friendly by design.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121908" y="877824"/>
            <a:ext cx="2697480" cy="192024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7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39" name="Shape 37"/>
          <p:cNvSpPr/>
          <p:nvPr/>
        </p:nvSpPr>
        <p:spPr>
          <a:xfrm>
            <a:off x="6117336" y="868680"/>
            <a:ext cx="45720" cy="19202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6302502" y="978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6766560" y="1024128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Camera Required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309360" y="1458468"/>
            <a:ext cx="246888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in darkness, smoke, or fog. Robust where optical sensors fail completely.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365760" y="2953512"/>
            <a:ext cx="2697480" cy="192024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7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365760" y="2953512"/>
            <a:ext cx="45720" cy="192024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457200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🚁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1115568" y="3090672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92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Drone-Portable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75488" y="3639312"/>
            <a:ext cx="246888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sensor cluster weighs &lt;200 g. Mount on a UAV for aerial, mobile crowd surveying.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3268980" y="2953512"/>
            <a:ext cx="2697480" cy="192024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7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3220534" y="2953512"/>
            <a:ext cx="45720" cy="192024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3337560" y="30449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51" name="Text 49"/>
          <p:cNvSpPr/>
          <p:nvPr/>
        </p:nvSpPr>
        <p:spPr>
          <a:xfrm>
            <a:off x="3886200" y="3067812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Passive &amp; Covert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3383280" y="3611880"/>
            <a:ext cx="246888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RF emissions. The system only listens — undetectable to the devices being monitored.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6137973" y="2953512"/>
            <a:ext cx="2697480" cy="192024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7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4" name="Shape 52"/>
          <p:cNvSpPr/>
          <p:nvPr/>
        </p:nvSpPr>
        <p:spPr>
          <a:xfrm>
            <a:off x="6140196" y="2954602"/>
            <a:ext cx="45720" cy="19202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6302502" y="30678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56" name="Text 54"/>
          <p:cNvSpPr/>
          <p:nvPr/>
        </p:nvSpPr>
        <p:spPr>
          <a:xfrm>
            <a:off x="6760142" y="308178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Output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6437376" y="3467505"/>
            <a:ext cx="246888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Sub-second latency from packet capture to GUI update. Suitable for dynamic crowd management.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457200"/>
            <a:ext cx="4572000" cy="4572000"/>
          </a:xfrm>
          <a:prstGeom prst="ellipse">
            <a:avLst/>
          </a:prstGeom>
          <a:solidFill>
            <a:srgbClr val="818CF8">
              <a:alpha val="10000"/>
            </a:srgbClr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5943600" y="2286000"/>
            <a:ext cx="4114800" cy="4114800"/>
          </a:xfrm>
          <a:prstGeom prst="ellipse">
            <a:avLst/>
          </a:prstGeom>
          <a:solidFill>
            <a:srgbClr val="38BDF8">
              <a:alpha val="8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Scalable RF-Based</a:t>
            </a:r>
            <a:endParaRPr lang="en-US" sz="34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Crowd Intelligence System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48640" y="2633472"/>
            <a:ext cx="8046720" cy="530352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7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48640" y="2633472"/>
            <a:ext cx="45720" cy="5303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77240" y="2688336"/>
            <a:ext cx="7635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crowd sensing using passive 802.11 sniffing — no cameras, no active probing.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255264"/>
            <a:ext cx="8046720" cy="530352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7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548640" y="3255264"/>
            <a:ext cx="45720" cy="530352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77240" y="3310128"/>
            <a:ext cx="7635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Mathematically grounded position estimation via Least-Squares Trilateration.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877056"/>
            <a:ext cx="8046720" cy="530352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7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48640" y="3877056"/>
            <a:ext cx="45720" cy="53035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77240" y="3931920"/>
            <a:ext cx="7635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Privacy-preserving, low-cost, and drone-deployable for dynamic environments.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45720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Scope: Neural-network RSSI calibration · Drone swarm trilateration · Live heatmap streaming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F172A"/>
          </a:solidFill>
          <a:ln w="12700">
            <a:solidFill>
              <a:srgbClr val="2D3F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57200" y="4919472"/>
            <a:ext cx="82296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Drone-Based Crowd Monitoring System  |  ESP32 WiFi Sniffing  |  RSSI Trilateration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1186</Words>
  <Application>Microsoft Office PowerPoint</Application>
  <PresentationFormat>On-screen Show (16:9)</PresentationFormat>
  <Paragraphs>190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Drone-Based Crowd Monitoring System</dc:title>
  <dc:subject>PptxGenJS Presentation</dc:subject>
  <dc:creator>PptxGenJS</dc:creator>
  <cp:lastModifiedBy>Mohit Rajendra Patil</cp:lastModifiedBy>
  <cp:revision>3</cp:revision>
  <dcterms:created xsi:type="dcterms:W3CDTF">2026-04-02T02:13:49Z</dcterms:created>
  <dcterms:modified xsi:type="dcterms:W3CDTF">2026-04-02T17:05:08Z</dcterms:modified>
</cp:coreProperties>
</file>